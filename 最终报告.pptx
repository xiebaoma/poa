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65" r:id="rId13"/>
    <p:sldId id="266" r:id="rId14"/>
    <p:sldId id="267" r:id="rId15"/>
    <p:sldId id="268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.xml"/><Relationship Id="rId3" Type="http://schemas.openxmlformats.org/officeDocument/2006/relationships/image" Target="../media/image3.png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2.xml"/><Relationship Id="rId3" Type="http://schemas.openxmlformats.org/officeDocument/2006/relationships/image" Target="../media/image4.png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tags" Target="../tags/tag10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sz="5400"/>
              <a:t>python+spark</a:t>
            </a:r>
            <a:r>
              <a:rPr lang="zh-CN" altLang="en-US" sz="5400"/>
              <a:t>热词分析系统</a:t>
            </a:r>
            <a:endParaRPr lang="zh-CN" altLang="en-US" sz="5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谢宝玛</a:t>
            </a:r>
            <a:r>
              <a:rPr lang="en-US" altLang="zh-CN"/>
              <a:t> 1120233506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系统</a:t>
            </a:r>
            <a:r>
              <a:rPr lang="zh-CN" altLang="en-US"/>
              <a:t>介绍</a:t>
            </a:r>
            <a:endParaRPr lang="zh-CN" altLang="en-US"/>
          </a:p>
          <a:p>
            <a:pPr lvl="1"/>
            <a:r>
              <a:rPr lang="zh-CN" altLang="en-US" sz="1600"/>
              <a:t>功能介绍</a:t>
            </a:r>
            <a:endParaRPr lang="zh-CN" altLang="en-US" sz="1600"/>
          </a:p>
          <a:p>
            <a:pPr lvl="1"/>
            <a:r>
              <a:rPr lang="zh-CN" altLang="en-US"/>
              <a:t>演示</a:t>
            </a:r>
            <a:endParaRPr lang="zh-CN" altLang="en-US"/>
          </a:p>
          <a:p>
            <a:r>
              <a:rPr lang="zh-CN" altLang="en-US"/>
              <a:t>数据</a:t>
            </a:r>
            <a:r>
              <a:rPr lang="zh-CN" altLang="en-US"/>
              <a:t>集</a:t>
            </a:r>
            <a:endParaRPr lang="zh-CN" altLang="en-US"/>
          </a:p>
          <a:p>
            <a:r>
              <a:rPr lang="zh-CN" altLang="en-US"/>
              <a:t>架构</a:t>
            </a:r>
            <a:r>
              <a:rPr lang="zh-CN" altLang="en-US"/>
              <a:t>分析</a:t>
            </a:r>
            <a:endParaRPr lang="zh-CN" altLang="en-US"/>
          </a:p>
          <a:p>
            <a:pPr lvl="1"/>
            <a:r>
              <a:rPr lang="zh-CN" altLang="en-US"/>
              <a:t>热词</a:t>
            </a:r>
            <a:r>
              <a:rPr lang="zh-CN" altLang="en-US"/>
              <a:t>统计</a:t>
            </a:r>
            <a:endParaRPr lang="zh-CN" altLang="en-US"/>
          </a:p>
          <a:p>
            <a:pPr lvl="1"/>
            <a:r>
              <a:rPr lang="zh-CN" altLang="en-US"/>
              <a:t>情感</a:t>
            </a:r>
            <a:r>
              <a:rPr lang="zh-CN" altLang="en-US"/>
              <a:t>分析</a:t>
            </a:r>
            <a:endParaRPr lang="zh-CN" altLang="en-US"/>
          </a:p>
          <a:p>
            <a:pPr marL="228600" lvl="0" indent="-228600">
              <a:buFont typeface="Arial" panose="020B0604020202020204" pitchFamily="34" charset="0"/>
              <a:buChar char="●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总结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一，系统</a:t>
            </a:r>
            <a:r>
              <a:rPr lang="zh-CN" altLang="en-US"/>
              <a:t>介绍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这是一个热词分析系统，可以统计一段时间内的热词，以及情感</a:t>
            </a:r>
            <a:r>
              <a:rPr lang="zh-CN" altLang="en-US"/>
              <a:t>评分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屏幕截图 2026-01-01 1505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900" y="983615"/>
            <a:ext cx="7465060" cy="50958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07895" y="364490"/>
            <a:ext cx="1579880" cy="3683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加载</a:t>
            </a:r>
            <a:r>
              <a:rPr lang="zh-CN" altLang="en-US"/>
              <a:t>数据</a:t>
            </a:r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>
            <a:off x="2777490" y="732790"/>
            <a:ext cx="571500" cy="5607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606925" y="349885"/>
            <a:ext cx="1316355" cy="3683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导出</a:t>
            </a:r>
            <a:r>
              <a:rPr lang="zh-CN" altLang="en-US"/>
              <a:t>结果</a:t>
            </a:r>
            <a:endParaRPr lang="zh-CN" altLang="en-US"/>
          </a:p>
        </p:txBody>
      </p:sp>
      <p:cxnSp>
        <p:nvCxnSpPr>
          <p:cNvPr id="8" name="直接箭头连接符 7"/>
          <p:cNvCxnSpPr>
            <a:stCxn id="7" idx="2"/>
          </p:cNvCxnSpPr>
          <p:nvPr/>
        </p:nvCxnSpPr>
        <p:spPr>
          <a:xfrm flipH="1">
            <a:off x="4540885" y="718185"/>
            <a:ext cx="724535" cy="6115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118235" y="1958975"/>
            <a:ext cx="1659255" cy="3683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出现的</a:t>
            </a:r>
            <a:r>
              <a:rPr lang="zh-CN" altLang="en-US"/>
              <a:t>热词</a:t>
            </a:r>
            <a:endParaRPr lang="zh-CN" altLang="en-US"/>
          </a:p>
        </p:txBody>
      </p:sp>
      <p:cxnSp>
        <p:nvCxnSpPr>
          <p:cNvPr id="10" name="直接箭头连接符 9"/>
          <p:cNvCxnSpPr>
            <a:stCxn id="9" idx="3"/>
          </p:cNvCxnSpPr>
          <p:nvPr/>
        </p:nvCxnSpPr>
        <p:spPr>
          <a:xfrm>
            <a:off x="2777490" y="2143125"/>
            <a:ext cx="271145" cy="3422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53795" y="3780155"/>
            <a:ext cx="1623695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热词排行，频率</a:t>
            </a:r>
            <a:r>
              <a:rPr lang="zh-CN" altLang="en-US"/>
              <a:t>统计</a:t>
            </a:r>
            <a:endParaRPr lang="zh-CN" altLang="en-US"/>
          </a:p>
        </p:txBody>
      </p:sp>
      <p:cxnSp>
        <p:nvCxnSpPr>
          <p:cNvPr id="13" name="直接箭头连接符 12"/>
          <p:cNvCxnSpPr>
            <a:stCxn id="11" idx="3"/>
          </p:cNvCxnSpPr>
          <p:nvPr/>
        </p:nvCxnSpPr>
        <p:spPr>
          <a:xfrm>
            <a:off x="2777490" y="4102735"/>
            <a:ext cx="636905" cy="3651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屏幕截图 2026-01-01 1513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170" y="725805"/>
            <a:ext cx="7294880" cy="49625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38855" y="6200775"/>
            <a:ext cx="1653540" cy="3683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热词情感</a:t>
            </a:r>
            <a:r>
              <a:rPr lang="zh-CN" altLang="en-US"/>
              <a:t>评分</a:t>
            </a:r>
            <a:endParaRPr lang="zh-CN" altLang="en-US"/>
          </a:p>
        </p:txBody>
      </p:sp>
      <p:cxnSp>
        <p:nvCxnSpPr>
          <p:cNvPr id="6" name="直接箭头连接符 5"/>
          <p:cNvCxnSpPr>
            <a:stCxn id="5" idx="0"/>
          </p:cNvCxnSpPr>
          <p:nvPr/>
        </p:nvCxnSpPr>
        <p:spPr>
          <a:xfrm flipH="1" flipV="1">
            <a:off x="4022090" y="5681345"/>
            <a:ext cx="343535" cy="519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9368155" y="1570990"/>
            <a:ext cx="2515870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列表</a:t>
            </a:r>
            <a:br>
              <a:rPr lang="zh-CN" altLang="en-US"/>
            </a:br>
            <a:r>
              <a:rPr lang="zh-CN" altLang="en-US"/>
              <a:t>排名，热词，</a:t>
            </a:r>
            <a:r>
              <a:rPr lang="zh-CN" altLang="en-US"/>
              <a:t>情感</a:t>
            </a:r>
            <a:endParaRPr lang="zh-CN" altLang="en-US"/>
          </a:p>
        </p:txBody>
      </p:sp>
      <p:cxnSp>
        <p:nvCxnSpPr>
          <p:cNvPr id="8" name="直接箭头连接符 7"/>
          <p:cNvCxnSpPr>
            <a:stCxn id="7" idx="1"/>
          </p:cNvCxnSpPr>
          <p:nvPr/>
        </p:nvCxnSpPr>
        <p:spPr>
          <a:xfrm flipH="1">
            <a:off x="8482965" y="1893570"/>
            <a:ext cx="885190" cy="642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9382760" y="4993640"/>
            <a:ext cx="2216150" cy="3683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情感分布扇形</a:t>
            </a:r>
            <a:r>
              <a:rPr lang="zh-CN" altLang="en-US"/>
              <a:t>图</a:t>
            </a:r>
            <a:endParaRPr lang="zh-CN" altLang="en-US"/>
          </a:p>
        </p:txBody>
      </p:sp>
      <p:cxnSp>
        <p:nvCxnSpPr>
          <p:cNvPr id="10" name="直接箭头连接符 9"/>
          <p:cNvCxnSpPr>
            <a:stCxn id="9" idx="1"/>
          </p:cNvCxnSpPr>
          <p:nvPr/>
        </p:nvCxnSpPr>
        <p:spPr>
          <a:xfrm flipH="1">
            <a:off x="8461375" y="5177790"/>
            <a:ext cx="921385" cy="133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一，系统</a:t>
            </a:r>
            <a:r>
              <a:rPr lang="zh-CN" altLang="en-US"/>
              <a:t>介绍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运行演示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软件要求：</a:t>
            </a:r>
            <a:r>
              <a:rPr lang="en-US" altLang="zh-CN"/>
              <a:t>python 3.10, java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执行：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cd /path/poa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pip install requirement.txt // </a:t>
            </a:r>
            <a:r>
              <a:rPr lang="zh-CN" altLang="en-US"/>
              <a:t>安装</a:t>
            </a:r>
            <a:r>
              <a:rPr lang="en-US" altLang="zh-CN"/>
              <a:t>pyspark</a:t>
            </a:r>
            <a:r>
              <a:rPr lang="zh-CN" altLang="en-US"/>
              <a:t>和其他依赖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python main.py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二，</a:t>
            </a:r>
            <a:r>
              <a:rPr lang="zh-CN" altLang="en-US"/>
              <a:t>数据集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来源：</a:t>
            </a:r>
            <a:r>
              <a:rPr lang="en-US" altLang="zh-CN"/>
              <a:t>https://huggingface.co/datasets/souljoy/COVID-19_weibo_emotion</a:t>
            </a:r>
            <a:br>
              <a:rPr lang="zh-CN" altLang="en-US"/>
            </a:b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545" y="2045970"/>
            <a:ext cx="9050655" cy="46196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二，数据</a:t>
            </a:r>
            <a:r>
              <a:rPr lang="zh-CN" altLang="en-US"/>
              <a:t>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下载的数据集</a:t>
            </a:r>
            <a:r>
              <a:rPr lang="zh-CN" altLang="en-US"/>
              <a:t>是一个</a:t>
            </a:r>
            <a:r>
              <a:rPr lang="en-US" altLang="zh-CN"/>
              <a:t>csv</a:t>
            </a:r>
            <a:r>
              <a:rPr lang="zh-CN" altLang="en-US"/>
              <a:t>文件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date:</a:t>
            </a:r>
            <a:r>
              <a:rPr lang="zh-CN" altLang="en-US"/>
              <a:t>日期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text</a:t>
            </a:r>
            <a:r>
              <a:rPr lang="zh-CN" altLang="en-US"/>
              <a:t>：文本</a:t>
            </a:r>
            <a:r>
              <a:rPr lang="zh-CN" altLang="en-US"/>
              <a:t>内容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label_name:</a:t>
            </a:r>
            <a:r>
              <a:rPr lang="zh-CN" altLang="en-US"/>
              <a:t>情感：</a:t>
            </a:r>
            <a:r>
              <a:rPr lang="en-US" altLang="zh-CN"/>
              <a:t>neutral</a:t>
            </a:r>
            <a:r>
              <a:rPr lang="zh-CN" altLang="en-US"/>
              <a:t>（无情绪）、</a:t>
            </a:r>
            <a:r>
              <a:rPr lang="en-US" altLang="zh-CN"/>
              <a:t>happy</a:t>
            </a:r>
            <a:r>
              <a:rPr lang="zh-CN" altLang="en-US"/>
              <a:t>（积极）、</a:t>
            </a:r>
            <a:r>
              <a:rPr lang="en-US" altLang="zh-CN"/>
              <a:t>angry</a:t>
            </a:r>
            <a:r>
              <a:rPr lang="zh-CN" altLang="en-US"/>
              <a:t>（愤怒）、</a:t>
            </a:r>
            <a:r>
              <a:rPr lang="en-US" altLang="zh-CN"/>
              <a:t>sad</a:t>
            </a:r>
            <a:r>
              <a:rPr lang="zh-CN" altLang="en-US"/>
              <a:t>（悲伤）、</a:t>
            </a:r>
            <a:r>
              <a:rPr lang="en-US" altLang="zh-CN"/>
              <a:t>fear</a:t>
            </a:r>
            <a:r>
              <a:rPr lang="zh-CN" altLang="en-US"/>
              <a:t>（恐惧）、</a:t>
            </a:r>
            <a:r>
              <a:rPr lang="en-US" altLang="zh-CN"/>
              <a:t>surprise</a:t>
            </a:r>
            <a:r>
              <a:rPr lang="zh-CN" altLang="en-US"/>
              <a:t>（惊奇）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label:</a:t>
            </a:r>
            <a:r>
              <a:rPr lang="zh-CN" altLang="en-US"/>
              <a:t>情感编号（</a:t>
            </a:r>
            <a:r>
              <a:rPr lang="en-US" altLang="zh-CN"/>
              <a:t>1~6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" y="4611370"/>
            <a:ext cx="9893300" cy="1504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三，架构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加载</a:t>
            </a:r>
            <a:r>
              <a:rPr lang="zh-CN" altLang="en-US"/>
              <a:t>数据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84985" y="2361565"/>
            <a:ext cx="269621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date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text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label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label_name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4606925" y="1561465"/>
            <a:ext cx="749554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id (</a:t>
            </a:r>
            <a:r>
              <a:rPr lang="zh-CN" altLang="en-US"/>
              <a:t>自动填充</a:t>
            </a:r>
            <a:r>
              <a:rPr lang="en-US" altLang="zh-CN"/>
              <a:t>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date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content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labe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emotion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sentiment_label </a:t>
            </a:r>
            <a:r>
              <a:rPr lang="zh-CN" altLang="en-US"/>
              <a:t>（</a:t>
            </a:r>
            <a:r>
              <a:rPr lang="en-US" altLang="zh-CN"/>
              <a:t>happy-&gt;1, anger/sad/fear-&gt;0, neutral/surprise-&gt;-1)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source</a:t>
            </a:r>
            <a:r>
              <a:rPr lang="zh-CN" altLang="en-US"/>
              <a:t>（微博</a:t>
            </a:r>
            <a:r>
              <a:rPr lang="en-US" altLang="zh-CN"/>
              <a:t>-</a:t>
            </a:r>
            <a:r>
              <a:rPr lang="zh-CN" altLang="en-US"/>
              <a:t>疫情）</a:t>
            </a:r>
            <a:endParaRPr lang="en-US" altLang="zh-CN"/>
          </a:p>
          <a:p>
            <a:endParaRPr lang="en-US" altLang="zh-CN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2444115" y="2324735"/>
            <a:ext cx="2021840" cy="2076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2451100" y="2872740"/>
            <a:ext cx="1970405" cy="259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498725" y="3411220"/>
            <a:ext cx="1981200" cy="254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3091180" y="3910965"/>
            <a:ext cx="1405890" cy="254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三，架构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热词统计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1</a:t>
            </a:r>
            <a:r>
              <a:rPr lang="zh-CN" altLang="en-US"/>
              <a:t>，限定</a:t>
            </a:r>
            <a:r>
              <a:rPr lang="zh-CN" altLang="en-US"/>
              <a:t>范围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）按日期范围筛选</a:t>
            </a:r>
            <a:r>
              <a:rPr lang="zh-CN" altLang="en-US"/>
              <a:t>数据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可以直接使用</a:t>
            </a:r>
            <a:r>
              <a:rPr lang="en-US" altLang="zh-CN"/>
              <a:t>pyspark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dataframe </a:t>
            </a:r>
            <a:r>
              <a:rPr lang="zh-CN" altLang="en-US"/>
              <a:t>的</a:t>
            </a:r>
            <a:r>
              <a:rPr lang="zh-CN" altLang="en-US"/>
              <a:t>函数</a:t>
            </a:r>
            <a:br>
              <a:rPr lang="zh-CN" altLang="en-US"/>
            </a:br>
            <a:r>
              <a:rPr lang="en-US" altLang="zh-CN"/>
              <a:t>	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975" y="1490345"/>
            <a:ext cx="6150610" cy="4478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三，架构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5161280" cy="4759325"/>
          </a:xfrm>
        </p:spPr>
        <p:txBody>
          <a:bodyPr/>
          <a:p>
            <a:r>
              <a:rPr lang="zh-CN" altLang="en-US"/>
              <a:t>热词</a:t>
            </a:r>
            <a:r>
              <a:rPr lang="zh-CN" altLang="en-US"/>
              <a:t>统计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zh-CN" altLang="en-US"/>
              <a:t>分词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）文本清洗：移除</a:t>
            </a:r>
            <a:r>
              <a:rPr lang="en-US" altLang="zh-CN"/>
              <a:t>URL</a:t>
            </a:r>
            <a:r>
              <a:rPr lang="zh-CN" altLang="en-US"/>
              <a:t>，邮箱，</a:t>
            </a:r>
            <a:r>
              <a:rPr lang="zh-CN" altLang="en-US"/>
              <a:t>空白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jieba</a:t>
            </a:r>
            <a:r>
              <a:rPr lang="zh-CN" altLang="en-US"/>
              <a:t>分词</a:t>
            </a:r>
            <a:endParaRPr lang="zh-CN" altLang="en-US"/>
          </a:p>
          <a:p>
            <a:pPr marL="457200" lvl="1" indent="457200">
              <a:buNone/>
            </a:pPr>
            <a:r>
              <a:rPr lang="zh-CN" altLang="en-US"/>
              <a:t>一个</a:t>
            </a:r>
            <a:r>
              <a:rPr lang="en-US" altLang="zh-CN"/>
              <a:t>python</a:t>
            </a:r>
            <a:r>
              <a:rPr lang="zh-CN" altLang="en-US"/>
              <a:t>库，大概的原理是基于词典构建有向无环</a:t>
            </a:r>
            <a:r>
              <a:rPr lang="zh-CN" altLang="en-US"/>
              <a:t>图）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zh-CN" altLang="en-US"/>
              <a:t>过滤</a:t>
            </a:r>
            <a:endParaRPr lang="zh-CN" altLang="en-US"/>
          </a:p>
          <a:p>
            <a:pPr marL="457200" lvl="1" indent="457200">
              <a:buNone/>
            </a:pPr>
            <a:r>
              <a:rPr lang="zh-CN" altLang="en-US"/>
              <a:t>长度小于</a:t>
            </a:r>
            <a:r>
              <a:rPr lang="en-US" altLang="zh-CN"/>
              <a:t>2</a:t>
            </a:r>
            <a:r>
              <a:rPr lang="zh-CN" altLang="en-US"/>
              <a:t>的</a:t>
            </a:r>
            <a:r>
              <a:rPr lang="zh-CN" altLang="en-US"/>
              <a:t>词</a:t>
            </a:r>
            <a:endParaRPr lang="zh-CN" altLang="en-US"/>
          </a:p>
          <a:p>
            <a:pPr marL="457200" lvl="1" indent="457200">
              <a:buNone/>
            </a:pPr>
            <a:r>
              <a:rPr lang="zh-CN" altLang="en-US"/>
              <a:t>停用词（从停用词文件中</a:t>
            </a:r>
            <a:r>
              <a:rPr lang="zh-CN" altLang="en-US"/>
              <a:t>加载）</a:t>
            </a:r>
            <a:endParaRPr lang="zh-CN" altLang="en-US"/>
          </a:p>
          <a:p>
            <a:pPr marL="457200" lvl="1" indent="457200">
              <a:buNone/>
            </a:pPr>
            <a:r>
              <a:rPr lang="zh-CN" altLang="en-US"/>
              <a:t>无效词（数字，标点，</a:t>
            </a:r>
            <a:r>
              <a:rPr lang="zh-CN" altLang="en-US"/>
              <a:t>字母）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020" y="724535"/>
            <a:ext cx="4940300" cy="5695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三，架构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热词</a:t>
            </a:r>
            <a:r>
              <a:rPr lang="zh-CN" altLang="en-US"/>
              <a:t>分析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3</a:t>
            </a:r>
            <a:r>
              <a:rPr lang="zh-CN" altLang="en-US"/>
              <a:t>，词频</a:t>
            </a:r>
            <a:r>
              <a:rPr lang="zh-CN" altLang="en-US"/>
              <a:t>统计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python</a:t>
            </a:r>
            <a:r>
              <a:rPr lang="zh-CN" altLang="en-US"/>
              <a:t>端</a:t>
            </a:r>
            <a:r>
              <a:rPr lang="zh-CN" altLang="en-US"/>
              <a:t>分词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遍历每一行，调用</a:t>
            </a:r>
            <a:r>
              <a:rPr lang="en-US" altLang="zh-CN"/>
              <a:t>jieba</a:t>
            </a:r>
            <a:r>
              <a:rPr lang="zh-CN" altLang="en-US"/>
              <a:t>分词</a:t>
            </a:r>
            <a:endParaRPr lang="zh-CN" altLang="en-US"/>
          </a:p>
          <a:p>
            <a:pPr marL="0" indent="457200">
              <a:buNone/>
            </a:pP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383655" y="1029335"/>
            <a:ext cx="580834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原始数据：</a:t>
            </a:r>
            <a:endParaRPr lang="zh-CN" altLang="en-US"/>
          </a:p>
          <a:p>
            <a:r>
              <a:rPr lang="en-US" altLang="zh-CN"/>
              <a:t>  date        content</a:t>
            </a:r>
            <a:endParaRPr lang="en-US" altLang="zh-CN"/>
          </a:p>
          <a:p>
            <a:r>
              <a:rPr lang="en-US" altLang="zh-CN"/>
              <a:t>  2020-01-20  "</a:t>
            </a:r>
            <a:r>
              <a:rPr lang="zh-CN" altLang="en-US"/>
              <a:t>今天天气真好，心情不错</a:t>
            </a:r>
            <a:r>
              <a:rPr lang="en-US" altLang="zh-CN"/>
              <a:t>"</a:t>
            </a:r>
            <a:endParaRPr lang="en-US" altLang="zh-CN"/>
          </a:p>
          <a:p>
            <a:r>
              <a:rPr lang="en-US" altLang="zh-CN"/>
              <a:t>  2020-01-20  "</a:t>
            </a:r>
            <a:r>
              <a:rPr lang="zh-CN" altLang="en-US"/>
              <a:t>天气不错，适合出门</a:t>
            </a:r>
            <a:r>
              <a:rPr lang="en-US" altLang="zh-CN"/>
              <a:t>"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分词后</a:t>
            </a:r>
            <a:r>
              <a:rPr lang="en-US" altLang="zh-CN"/>
              <a:t> word_records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  [</a:t>
            </a:r>
            <a:endParaRPr lang="en-US" altLang="zh-CN"/>
          </a:p>
          <a:p>
            <a:r>
              <a:rPr lang="en-US" altLang="zh-CN"/>
              <a:t>    {'date': '2020-01-20', 'word': '</a:t>
            </a:r>
            <a:r>
              <a:rPr lang="zh-CN" altLang="en-US"/>
              <a:t>今天</a:t>
            </a:r>
            <a:r>
              <a:rPr lang="en-US" altLang="zh-CN"/>
              <a:t>'},</a:t>
            </a:r>
            <a:endParaRPr lang="en-US" altLang="zh-CN"/>
          </a:p>
          <a:p>
            <a:r>
              <a:rPr lang="en-US" altLang="zh-CN"/>
              <a:t>    {'date': '2020-01-20', 'word': '</a:t>
            </a:r>
            <a:r>
              <a:rPr lang="zh-CN" altLang="en-US"/>
              <a:t>天气</a:t>
            </a:r>
            <a:r>
              <a:rPr lang="en-US" altLang="zh-CN"/>
              <a:t>'},</a:t>
            </a:r>
            <a:endParaRPr lang="en-US" altLang="zh-CN"/>
          </a:p>
          <a:p>
            <a:r>
              <a:rPr lang="en-US" altLang="zh-CN"/>
              <a:t>    {'date': '2020-01-20', 'word': '</a:t>
            </a:r>
            <a:r>
              <a:rPr lang="zh-CN" altLang="en-US"/>
              <a:t>真好</a:t>
            </a:r>
            <a:r>
              <a:rPr lang="en-US" altLang="zh-CN"/>
              <a:t>'},</a:t>
            </a:r>
            <a:endParaRPr lang="en-US" altLang="zh-CN"/>
          </a:p>
          <a:p>
            <a:r>
              <a:rPr lang="en-US" altLang="zh-CN"/>
              <a:t>    {'date': '2020-01-20', 'word': '</a:t>
            </a:r>
            <a:r>
              <a:rPr lang="zh-CN" altLang="en-US"/>
              <a:t>心情</a:t>
            </a:r>
            <a:r>
              <a:rPr lang="en-US" altLang="zh-CN"/>
              <a:t>'},</a:t>
            </a:r>
            <a:endParaRPr lang="en-US" altLang="zh-CN"/>
          </a:p>
          <a:p>
            <a:r>
              <a:rPr lang="en-US" altLang="zh-CN"/>
              <a:t>    {'date': '2020-01-20', 'word': '</a:t>
            </a:r>
            <a:r>
              <a:rPr lang="zh-CN" altLang="en-US"/>
              <a:t>不错</a:t>
            </a:r>
            <a:r>
              <a:rPr lang="en-US" altLang="zh-CN"/>
              <a:t>'},</a:t>
            </a:r>
            <a:endParaRPr lang="en-US" altLang="zh-CN"/>
          </a:p>
          <a:p>
            <a:r>
              <a:rPr lang="en-US" altLang="zh-CN"/>
              <a:t>    {'date': '2020-01-20', 'word': '</a:t>
            </a:r>
            <a:r>
              <a:rPr lang="zh-CN" altLang="en-US"/>
              <a:t>天气</a:t>
            </a:r>
            <a:r>
              <a:rPr lang="en-US" altLang="zh-CN"/>
              <a:t>'},</a:t>
            </a:r>
            <a:endParaRPr lang="en-US" altLang="zh-CN"/>
          </a:p>
          <a:p>
            <a:r>
              <a:rPr lang="en-US" altLang="zh-CN"/>
              <a:t>    {'date': '2020-01-20', 'word': '</a:t>
            </a:r>
            <a:r>
              <a:rPr lang="zh-CN" altLang="en-US"/>
              <a:t>不错</a:t>
            </a:r>
            <a:r>
              <a:rPr lang="en-US" altLang="zh-CN"/>
              <a:t>'},</a:t>
            </a:r>
            <a:endParaRPr lang="en-US" altLang="zh-CN"/>
          </a:p>
          <a:p>
            <a:r>
              <a:rPr lang="en-US" altLang="zh-CN"/>
              <a:t>    {'date': '2020-01-20', 'word': '</a:t>
            </a:r>
            <a:r>
              <a:rPr lang="zh-CN" altLang="en-US"/>
              <a:t>适合</a:t>
            </a:r>
            <a:r>
              <a:rPr lang="en-US" altLang="zh-CN"/>
              <a:t>'},</a:t>
            </a:r>
            <a:endParaRPr lang="en-US" altLang="zh-CN"/>
          </a:p>
          <a:p>
            <a:r>
              <a:rPr lang="en-US" altLang="zh-CN"/>
              <a:t>    {'date': '2020-01-20', 'word': '</a:t>
            </a:r>
            <a:r>
              <a:rPr lang="zh-CN" altLang="en-US"/>
              <a:t>出门</a:t>
            </a:r>
            <a:r>
              <a:rPr lang="en-US" altLang="zh-CN"/>
              <a:t>'}</a:t>
            </a:r>
            <a:endParaRPr lang="en-US" altLang="zh-CN"/>
          </a:p>
          <a:p>
            <a:r>
              <a:rPr lang="en-US" altLang="zh-CN"/>
              <a:t>  ]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3614420"/>
            <a:ext cx="5394325" cy="22142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三，架构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热词</a:t>
            </a:r>
            <a:r>
              <a:rPr lang="zh-CN" altLang="en-US"/>
              <a:t>分析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3</a:t>
            </a:r>
            <a:r>
              <a:rPr lang="zh-CN" altLang="en-US"/>
              <a:t>，词频</a:t>
            </a:r>
            <a:r>
              <a:rPr lang="zh-CN" altLang="en-US"/>
              <a:t>统计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）转为</a:t>
            </a:r>
            <a:r>
              <a:rPr lang="en-US" altLang="zh-CN"/>
              <a:t>Spark </a:t>
            </a:r>
            <a:r>
              <a:rPr lang="en-US" altLang="zh-CN"/>
              <a:t>DataFrame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word_df = pd.DataFrame(word_records)  # </a:t>
            </a:r>
            <a:r>
              <a:rPr lang="zh-CN" altLang="en-US"/>
              <a:t>先转成</a:t>
            </a:r>
            <a:r>
              <a:rPr lang="en-US" altLang="zh-CN"/>
              <a:t> Pandas DataFrame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spark_df = self.spark.createDataFrame(word_df)  # </a:t>
            </a:r>
            <a:r>
              <a:rPr lang="zh-CN" altLang="en-US"/>
              <a:t>再转成</a:t>
            </a:r>
            <a:r>
              <a:rPr lang="en-US" altLang="zh-CN"/>
              <a:t> Spark DataFrame</a:t>
            </a:r>
            <a:endParaRPr lang="en-US" altLang="zh-CN"/>
          </a:p>
          <a:p>
            <a:pPr marL="0" lvl="0" indent="0"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（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）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Spark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分组聚合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457200">
              <a:buFont typeface="Arial" panose="020B0604020202020204" pitchFamily="34" charset="0"/>
              <a:buNone/>
            </a:pP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457200">
              <a:buNone/>
            </a:pP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770" y="4511675"/>
            <a:ext cx="5034915" cy="21170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Spark </a:t>
            </a:r>
            <a:r>
              <a:rPr lang="zh-CN" altLang="en-US"/>
              <a:t>分组</a:t>
            </a:r>
            <a:r>
              <a:rPr lang="zh-CN" altLang="en-US"/>
              <a:t>聚合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相当于执行这样一条</a:t>
            </a:r>
            <a:r>
              <a:rPr lang="en-US" altLang="zh-CN"/>
              <a:t>SQL</a:t>
            </a:r>
            <a:r>
              <a:rPr lang="zh-CN" altLang="en-US"/>
              <a:t>：</a:t>
            </a:r>
            <a:endParaRPr lang="zh-CN" altLang="en-US"/>
          </a:p>
          <a:p>
            <a:pPr marL="0" indent="457200">
              <a:buNone/>
            </a:pPr>
            <a:r>
              <a:rPr lang="en-US" altLang="zh-CN"/>
              <a:t>SELECT date, word, COUNT(*) as count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FROM word_table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GROUP BY date, word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ORDER BY count DESC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732905" y="2496820"/>
            <a:ext cx="503745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date        	word    count</a:t>
            </a:r>
            <a:endParaRPr lang="en-US" altLang="zh-CN"/>
          </a:p>
          <a:p>
            <a:r>
              <a:rPr lang="en-US" altLang="zh-CN"/>
              <a:t>2020-01-20  	</a:t>
            </a:r>
            <a:r>
              <a:rPr lang="zh-CN" altLang="en-US"/>
              <a:t>天气</a:t>
            </a:r>
            <a:r>
              <a:rPr lang="en-US" altLang="zh-CN"/>
              <a:t>    2</a:t>
            </a:r>
            <a:endParaRPr lang="en-US" altLang="zh-CN"/>
          </a:p>
          <a:p>
            <a:r>
              <a:rPr lang="en-US" altLang="zh-CN"/>
              <a:t>2020-01-20  	</a:t>
            </a:r>
            <a:r>
              <a:rPr lang="zh-CN" altLang="en-US"/>
              <a:t>不错</a:t>
            </a:r>
            <a:r>
              <a:rPr lang="en-US" altLang="zh-CN"/>
              <a:t>    2</a:t>
            </a:r>
            <a:endParaRPr lang="en-US" altLang="zh-CN"/>
          </a:p>
          <a:p>
            <a:r>
              <a:rPr lang="en-US" altLang="zh-CN"/>
              <a:t>2020-01-20  	</a:t>
            </a:r>
            <a:r>
              <a:rPr lang="zh-CN" altLang="en-US"/>
              <a:t>今天</a:t>
            </a:r>
            <a:r>
              <a:rPr lang="en-US" altLang="zh-CN"/>
              <a:t>    1</a:t>
            </a:r>
            <a:endParaRPr lang="en-US" altLang="zh-CN"/>
          </a:p>
          <a:p>
            <a:r>
              <a:rPr lang="en-US" altLang="zh-CN"/>
              <a:t>2020-01-20  	</a:t>
            </a:r>
            <a:r>
              <a:rPr lang="zh-CN" altLang="en-US"/>
              <a:t>真好</a:t>
            </a:r>
            <a:r>
              <a:rPr lang="en-US" altLang="zh-CN"/>
              <a:t>    1</a:t>
            </a:r>
            <a:endParaRPr lang="en-US" altLang="zh-CN"/>
          </a:p>
          <a:p>
            <a:r>
              <a:rPr lang="en-US" altLang="zh-CN"/>
              <a:t>2020-01-20  	</a:t>
            </a:r>
            <a:r>
              <a:rPr lang="zh-CN" altLang="en-US"/>
              <a:t>心情</a:t>
            </a:r>
            <a:r>
              <a:rPr lang="en-US" altLang="zh-CN"/>
              <a:t>    1</a:t>
            </a:r>
            <a:endParaRPr lang="en-US" altLang="zh-CN"/>
          </a:p>
          <a:p>
            <a:r>
              <a:rPr lang="en-US" altLang="zh-CN"/>
              <a:t>2020-01-20  	</a:t>
            </a:r>
            <a:r>
              <a:rPr lang="zh-CN" altLang="en-US"/>
              <a:t>适合</a:t>
            </a:r>
            <a:r>
              <a:rPr lang="en-US" altLang="zh-CN"/>
              <a:t>    1</a:t>
            </a:r>
            <a:endParaRPr lang="en-US" altLang="zh-CN"/>
          </a:p>
          <a:p>
            <a:r>
              <a:rPr lang="en-US" altLang="zh-CN"/>
              <a:t>2020-01-20  	</a:t>
            </a:r>
            <a:r>
              <a:rPr lang="zh-CN" altLang="en-US"/>
              <a:t>出门</a:t>
            </a:r>
            <a:r>
              <a:rPr lang="en-US" altLang="zh-CN"/>
              <a:t>    1</a:t>
            </a:r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三，架构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热词</a:t>
            </a:r>
            <a:r>
              <a:rPr lang="zh-CN" altLang="en-US"/>
              <a:t>分析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4</a:t>
            </a:r>
            <a:r>
              <a:rPr lang="zh-CN" altLang="en-US"/>
              <a:t>，取</a:t>
            </a:r>
            <a:r>
              <a:rPr lang="en-US" altLang="zh-CN"/>
              <a:t>topN</a:t>
            </a:r>
            <a:r>
              <a:rPr lang="zh-CN" altLang="en-US"/>
              <a:t>个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5" name="图片 4" descr="屏幕截图 2026-01-01 2303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310" y="554990"/>
            <a:ext cx="3909695" cy="12471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1820" y="2526030"/>
            <a:ext cx="3461385" cy="917575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 flipH="1">
            <a:off x="7206615" y="1921510"/>
            <a:ext cx="8255" cy="508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4845" y="4592320"/>
            <a:ext cx="1854200" cy="18770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9925" y="4665980"/>
            <a:ext cx="2317115" cy="186182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297670" y="922020"/>
            <a:ext cx="2811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原始数据（</a:t>
            </a:r>
            <a:r>
              <a:rPr lang="en-US" altLang="zh-CN"/>
              <a:t>self.df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291955" y="2742565"/>
            <a:ext cx="2625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日期筛选后（</a:t>
            </a:r>
            <a:r>
              <a:rPr lang="en-US" altLang="zh-CN"/>
              <a:t>df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095625" y="3885565"/>
            <a:ext cx="2513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词频统计（</a:t>
            </a:r>
            <a:r>
              <a:rPr lang="en-US" altLang="zh-CN"/>
              <a:t>self.word_freq</a:t>
            </a:r>
            <a:r>
              <a:rPr lang="zh-CN" altLang="en-US"/>
              <a:t>）</a:t>
            </a:r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5617845" y="3589020"/>
            <a:ext cx="1659255" cy="8299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6574155" y="5401310"/>
            <a:ext cx="1346200" cy="336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8707755" y="4071620"/>
            <a:ext cx="2929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Top 5 </a:t>
            </a:r>
            <a:r>
              <a:rPr lang="zh-CN" altLang="en-US"/>
              <a:t>热词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三，架构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情感</a:t>
            </a:r>
            <a:r>
              <a:rPr lang="zh-CN" altLang="en-US"/>
              <a:t>评分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1</a:t>
            </a:r>
            <a:r>
              <a:rPr lang="zh-CN" altLang="en-US"/>
              <a:t>，筛选包含该词的</a:t>
            </a:r>
            <a:r>
              <a:rPr lang="zh-CN" altLang="en-US"/>
              <a:t>文本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分析热词的情感，需要分析其所在的</a:t>
            </a:r>
            <a:r>
              <a:rPr lang="zh-CN" altLang="en-US"/>
              <a:t>语境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热词：</a:t>
            </a:r>
            <a:r>
              <a:rPr lang="zh-CN" altLang="en-US"/>
              <a:t>疫情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文本</a:t>
            </a:r>
            <a:r>
              <a:rPr lang="en-US" altLang="zh-CN"/>
              <a:t>1: "</a:t>
            </a:r>
            <a:r>
              <a:rPr lang="zh-CN" altLang="en-US"/>
              <a:t>疫情太严重了，很担心</a:t>
            </a:r>
            <a:r>
              <a:rPr lang="en-US" altLang="zh-CN"/>
              <a:t>" 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文本</a:t>
            </a:r>
            <a:r>
              <a:rPr lang="en-US" altLang="zh-CN"/>
              <a:t>2: "</a:t>
            </a:r>
            <a:r>
              <a:rPr lang="zh-CN" altLang="en-US"/>
              <a:t>疫情得到控制，太好了</a:t>
            </a:r>
            <a:r>
              <a:rPr lang="en-US" altLang="zh-CN"/>
              <a:t>"  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文本</a:t>
            </a:r>
            <a:r>
              <a:rPr lang="en-US" altLang="zh-CN"/>
              <a:t>3: "</a:t>
            </a:r>
            <a:r>
              <a:rPr lang="zh-CN" altLang="en-US"/>
              <a:t>关于疫情的最新消息</a:t>
            </a:r>
            <a:r>
              <a:rPr lang="en-US" altLang="zh-CN"/>
              <a:t>"     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文本</a:t>
            </a:r>
            <a:r>
              <a:rPr lang="en-US" altLang="zh-CN"/>
              <a:t>4: "</a:t>
            </a:r>
            <a:r>
              <a:rPr lang="zh-CN" altLang="en-US"/>
              <a:t>疫情让人很焦虑</a:t>
            </a:r>
            <a:r>
              <a:rPr lang="en-US" altLang="zh-CN"/>
              <a:t>"              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文本</a:t>
            </a:r>
            <a:r>
              <a:rPr lang="en-US" altLang="zh-CN"/>
              <a:t>5: "</a:t>
            </a:r>
            <a:r>
              <a:rPr lang="zh-CN" altLang="en-US"/>
              <a:t>疫情防护措施很到位</a:t>
            </a:r>
            <a:r>
              <a:rPr lang="en-US" altLang="zh-CN"/>
              <a:t>"          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965825" y="1734185"/>
            <a:ext cx="5774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技术</a:t>
            </a:r>
            <a:r>
              <a:rPr lang="zh-CN" altLang="en-US"/>
              <a:t>实现：</a:t>
            </a:r>
            <a:endParaRPr lang="zh-CN" altLang="en-US"/>
          </a:p>
          <a:p>
            <a:r>
              <a:rPr lang="zh-CN" altLang="en-US"/>
              <a:t>使用</a:t>
            </a:r>
            <a:r>
              <a:rPr lang="en-US" altLang="zh-CN"/>
              <a:t>pandas</a:t>
            </a:r>
            <a:r>
              <a:rPr lang="zh-CN" altLang="en-US"/>
              <a:t>的字符串匹配</a:t>
            </a:r>
            <a:r>
              <a:rPr lang="zh-CN" altLang="en-US"/>
              <a:t>算法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010" y="2931795"/>
            <a:ext cx="49911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三，架构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情感</a:t>
            </a:r>
            <a:r>
              <a:rPr lang="zh-CN" altLang="en-US"/>
              <a:t>评分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</a:t>
            </a:r>
            <a:r>
              <a:rPr lang="zh-CN" altLang="en-US"/>
              <a:t>，单条文本</a:t>
            </a:r>
            <a:r>
              <a:rPr lang="zh-CN" altLang="en-US"/>
              <a:t>评分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）关键词匹配，得到</a:t>
            </a:r>
            <a:r>
              <a:rPr lang="en-US" altLang="zh-CN"/>
              <a:t>row_score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统计正面词数量</a:t>
            </a:r>
            <a:r>
              <a:rPr lang="en-US" altLang="zh-CN"/>
              <a:t>:pos_count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统计负面词数量</a:t>
            </a:r>
            <a:r>
              <a:rPr lang="en-US" altLang="zh-CN"/>
              <a:t>:neg_count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计算比例</a:t>
            </a:r>
            <a:r>
              <a:rPr lang="en-US" altLang="zh-CN"/>
              <a:t>:row_score=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pos_count/(pos_count+neg_count)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如果都没有，就返回</a:t>
            </a:r>
            <a:r>
              <a:rPr lang="en-US" altLang="zh-CN"/>
              <a:t>0.5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650" y="2419350"/>
            <a:ext cx="6388100" cy="2901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400" y="1090350"/>
            <a:ext cx="10969200" cy="4759200"/>
          </a:xfrm>
        </p:spPr>
        <p:txBody>
          <a:bodyPr>
            <a:normAutofit lnSpcReduction="20000"/>
          </a:bodyPr>
          <a:p>
            <a:r>
              <a:rPr lang="zh-CN" altLang="en-US"/>
              <a:t>情感</a:t>
            </a:r>
            <a:r>
              <a:rPr lang="zh-CN" altLang="en-US"/>
              <a:t>分析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</a:t>
            </a:r>
            <a:r>
              <a:rPr lang="zh-CN" altLang="en-US"/>
              <a:t>，单条文本</a:t>
            </a:r>
            <a:r>
              <a:rPr lang="zh-CN" altLang="en-US"/>
              <a:t>评分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）映射到</a:t>
            </a:r>
            <a:r>
              <a:rPr lang="en-US" altLang="zh-CN"/>
              <a:t>1</a:t>
            </a:r>
            <a:r>
              <a:rPr lang="zh-CN" altLang="en-US"/>
              <a:t>到</a:t>
            </a:r>
            <a:r>
              <a:rPr lang="en-US" altLang="zh-CN"/>
              <a:t>10</a:t>
            </a:r>
            <a:r>
              <a:rPr lang="zh-CN" altLang="en-US"/>
              <a:t>分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做一个线性映射：</a:t>
            </a:r>
            <a:r>
              <a:rPr lang="en-US" altLang="zh-CN"/>
              <a:t>score=row_score*9+1</a:t>
            </a:r>
            <a:endParaRPr lang="en-US" altLang="zh-CN"/>
          </a:p>
          <a:p>
            <a:pPr marL="0" indent="457200">
              <a:buNone/>
            </a:pPr>
            <a:endParaRPr lang="en-US" altLang="zh-CN"/>
          </a:p>
          <a:p>
            <a:pPr marL="0" indent="457200">
              <a:buNone/>
            </a:pPr>
            <a:endParaRPr lang="en-US" altLang="zh-CN"/>
          </a:p>
          <a:p>
            <a:pPr marL="0" indent="457200">
              <a:buNone/>
            </a:pPr>
            <a:r>
              <a:rPr lang="zh-CN" altLang="en-US"/>
              <a:t>文本</a:t>
            </a:r>
            <a:r>
              <a:rPr lang="en-US" altLang="zh-CN"/>
              <a:t>1: "</a:t>
            </a:r>
            <a:r>
              <a:rPr lang="zh-CN" altLang="en-US"/>
              <a:t>疫情太严重了，很担心</a:t>
            </a:r>
            <a:r>
              <a:rPr lang="en-US" altLang="zh-CN"/>
              <a:t>"       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评分</a:t>
            </a:r>
            <a:r>
              <a:rPr lang="en-US" altLang="zh-CN"/>
              <a:t>: 3.2</a:t>
            </a:r>
            <a:r>
              <a:rPr lang="zh-CN" altLang="en-US"/>
              <a:t>分</a:t>
            </a:r>
            <a:r>
              <a:rPr lang="en-US" altLang="zh-CN"/>
              <a:t> (</a:t>
            </a:r>
            <a:r>
              <a:rPr lang="zh-CN" altLang="en-US"/>
              <a:t>负面</a:t>
            </a:r>
            <a:r>
              <a:rPr lang="en-US" altLang="zh-CN"/>
              <a:t>)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文本</a:t>
            </a:r>
            <a:r>
              <a:rPr lang="en-US" altLang="zh-CN"/>
              <a:t>2: "</a:t>
            </a:r>
            <a:r>
              <a:rPr lang="zh-CN" altLang="en-US"/>
              <a:t>疫情得到控制，太好了</a:t>
            </a:r>
            <a:r>
              <a:rPr lang="en-US" altLang="zh-CN"/>
              <a:t>"       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评分</a:t>
            </a:r>
            <a:r>
              <a:rPr lang="en-US" altLang="zh-CN"/>
              <a:t>: 8.5</a:t>
            </a:r>
            <a:r>
              <a:rPr lang="zh-CN" altLang="en-US"/>
              <a:t>分</a:t>
            </a:r>
            <a:r>
              <a:rPr lang="en-US" altLang="zh-CN"/>
              <a:t> (</a:t>
            </a:r>
            <a:r>
              <a:rPr lang="zh-CN" altLang="en-US"/>
              <a:t>正面</a:t>
            </a:r>
            <a:r>
              <a:rPr lang="en-US" altLang="zh-CN"/>
              <a:t>)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文本</a:t>
            </a:r>
            <a:r>
              <a:rPr lang="en-US" altLang="zh-CN"/>
              <a:t>3: "</a:t>
            </a:r>
            <a:r>
              <a:rPr lang="zh-CN" altLang="en-US"/>
              <a:t>关于疫情的最新消息</a:t>
            </a:r>
            <a:r>
              <a:rPr lang="en-US" altLang="zh-CN"/>
              <a:t>"         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评分</a:t>
            </a:r>
            <a:r>
              <a:rPr lang="en-US" altLang="zh-CN"/>
              <a:t>: 5.5</a:t>
            </a:r>
            <a:r>
              <a:rPr lang="zh-CN" altLang="en-US"/>
              <a:t>分</a:t>
            </a:r>
            <a:r>
              <a:rPr lang="en-US" altLang="zh-CN"/>
              <a:t> (</a:t>
            </a:r>
            <a:r>
              <a:rPr lang="zh-CN" altLang="en-US"/>
              <a:t>中性</a:t>
            </a:r>
            <a:r>
              <a:rPr lang="en-US" altLang="zh-CN"/>
              <a:t>)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文本</a:t>
            </a:r>
            <a:r>
              <a:rPr lang="en-US" altLang="zh-CN"/>
              <a:t>4: "</a:t>
            </a:r>
            <a:r>
              <a:rPr lang="zh-CN" altLang="en-US"/>
              <a:t>疫情让人很焦虑</a:t>
            </a:r>
            <a:r>
              <a:rPr lang="en-US" altLang="zh-CN"/>
              <a:t>"             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评分</a:t>
            </a:r>
            <a:r>
              <a:rPr lang="en-US" altLang="zh-CN"/>
              <a:t>: 2.8</a:t>
            </a:r>
            <a:r>
              <a:rPr lang="zh-CN" altLang="en-US"/>
              <a:t>分</a:t>
            </a:r>
            <a:r>
              <a:rPr lang="en-US" altLang="zh-CN"/>
              <a:t> (</a:t>
            </a:r>
            <a:r>
              <a:rPr lang="zh-CN" altLang="en-US"/>
              <a:t>负面</a:t>
            </a:r>
            <a:r>
              <a:rPr lang="en-US" altLang="zh-CN"/>
              <a:t>)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文本</a:t>
            </a:r>
            <a:r>
              <a:rPr lang="en-US" altLang="zh-CN"/>
              <a:t>5: "</a:t>
            </a:r>
            <a:r>
              <a:rPr lang="zh-CN" altLang="en-US"/>
              <a:t>疫情防护措施很到位</a:t>
            </a:r>
            <a:r>
              <a:rPr lang="en-US" altLang="zh-CN"/>
              <a:t>"         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评分</a:t>
            </a:r>
            <a:r>
              <a:rPr lang="en-US" altLang="zh-CN"/>
              <a:t>: 7.2</a:t>
            </a:r>
            <a:r>
              <a:rPr lang="zh-CN" altLang="en-US"/>
              <a:t>分</a:t>
            </a:r>
            <a:r>
              <a:rPr lang="en-US" altLang="zh-CN"/>
              <a:t> (</a:t>
            </a:r>
            <a:r>
              <a:rPr lang="zh-CN" altLang="en-US"/>
              <a:t>正面</a:t>
            </a:r>
            <a:r>
              <a:rPr lang="en-US" altLang="zh-CN"/>
              <a:t>)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275" y="970280"/>
            <a:ext cx="5969000" cy="1971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情感</a:t>
            </a:r>
            <a:r>
              <a:rPr lang="zh-CN" altLang="en-US"/>
              <a:t>分析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3</a:t>
            </a:r>
            <a:r>
              <a:rPr lang="zh-CN" altLang="en-US"/>
              <a:t>，计算热词的平均情感</a:t>
            </a:r>
            <a:r>
              <a:rPr lang="zh-CN" altLang="en-US"/>
              <a:t>得分</a:t>
            </a:r>
            <a:endParaRPr lang="zh-CN" altLang="en-US"/>
          </a:p>
          <a:p>
            <a:pPr marL="0" indent="457200">
              <a:buNone/>
            </a:pPr>
            <a:r>
              <a:rPr lang="en-US" altLang="zh-CN"/>
              <a:t>avg_score = sum(scores) / len(scores) if scores else 5.5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文本</a:t>
            </a:r>
            <a:r>
              <a:rPr lang="en-US" altLang="zh-CN"/>
              <a:t>1: "</a:t>
            </a:r>
            <a:r>
              <a:rPr lang="zh-CN" altLang="en-US"/>
              <a:t>疫情太严重了，很担心</a:t>
            </a:r>
            <a:r>
              <a:rPr lang="en-US" altLang="zh-CN"/>
              <a:t>"       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评分</a:t>
            </a:r>
            <a:r>
              <a:rPr lang="en-US" altLang="zh-CN"/>
              <a:t>: 3.2</a:t>
            </a:r>
            <a:r>
              <a:rPr lang="zh-CN" altLang="en-US"/>
              <a:t>分</a:t>
            </a:r>
            <a:r>
              <a:rPr lang="en-US" altLang="zh-CN"/>
              <a:t> (</a:t>
            </a:r>
            <a:r>
              <a:rPr lang="zh-CN" altLang="en-US"/>
              <a:t>负面</a:t>
            </a:r>
            <a:r>
              <a:rPr lang="en-US" altLang="zh-CN"/>
              <a:t>)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文本</a:t>
            </a:r>
            <a:r>
              <a:rPr lang="en-US" altLang="zh-CN"/>
              <a:t>2: "</a:t>
            </a:r>
            <a:r>
              <a:rPr lang="zh-CN" altLang="en-US"/>
              <a:t>疫情得到控制，太好了</a:t>
            </a:r>
            <a:r>
              <a:rPr lang="en-US" altLang="zh-CN"/>
              <a:t>"       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评分</a:t>
            </a:r>
            <a:r>
              <a:rPr lang="en-US" altLang="zh-CN"/>
              <a:t>: 8.5</a:t>
            </a:r>
            <a:r>
              <a:rPr lang="zh-CN" altLang="en-US"/>
              <a:t>分</a:t>
            </a:r>
            <a:r>
              <a:rPr lang="en-US" altLang="zh-CN"/>
              <a:t> (</a:t>
            </a:r>
            <a:r>
              <a:rPr lang="zh-CN" altLang="en-US"/>
              <a:t>正面</a:t>
            </a:r>
            <a:r>
              <a:rPr lang="en-US" altLang="zh-CN"/>
              <a:t>)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文本</a:t>
            </a:r>
            <a:r>
              <a:rPr lang="en-US" altLang="zh-CN"/>
              <a:t>3: "</a:t>
            </a:r>
            <a:r>
              <a:rPr lang="zh-CN" altLang="en-US"/>
              <a:t>关于疫情的最新消息</a:t>
            </a:r>
            <a:r>
              <a:rPr lang="en-US" altLang="zh-CN"/>
              <a:t>"         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评分</a:t>
            </a:r>
            <a:r>
              <a:rPr lang="en-US" altLang="zh-CN"/>
              <a:t>: 5.5</a:t>
            </a:r>
            <a:r>
              <a:rPr lang="zh-CN" altLang="en-US"/>
              <a:t>分</a:t>
            </a:r>
            <a:r>
              <a:rPr lang="en-US" altLang="zh-CN"/>
              <a:t> (</a:t>
            </a:r>
            <a:r>
              <a:rPr lang="zh-CN" altLang="en-US"/>
              <a:t>中性</a:t>
            </a:r>
            <a:r>
              <a:rPr lang="en-US" altLang="zh-CN"/>
              <a:t>)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文本</a:t>
            </a:r>
            <a:r>
              <a:rPr lang="en-US" altLang="zh-CN"/>
              <a:t>4: "</a:t>
            </a:r>
            <a:r>
              <a:rPr lang="zh-CN" altLang="en-US"/>
              <a:t>疫情让人很焦虑</a:t>
            </a:r>
            <a:r>
              <a:rPr lang="en-US" altLang="zh-CN"/>
              <a:t>"             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评分</a:t>
            </a:r>
            <a:r>
              <a:rPr lang="en-US" altLang="zh-CN"/>
              <a:t>: 2.8</a:t>
            </a:r>
            <a:r>
              <a:rPr lang="zh-CN" altLang="en-US"/>
              <a:t>分</a:t>
            </a:r>
            <a:r>
              <a:rPr lang="en-US" altLang="zh-CN"/>
              <a:t> (</a:t>
            </a:r>
            <a:r>
              <a:rPr lang="zh-CN" altLang="en-US"/>
              <a:t>负面</a:t>
            </a:r>
            <a:r>
              <a:rPr lang="en-US" altLang="zh-CN"/>
              <a:t>)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文本</a:t>
            </a:r>
            <a:r>
              <a:rPr lang="en-US" altLang="zh-CN"/>
              <a:t>5: "</a:t>
            </a:r>
            <a:r>
              <a:rPr lang="zh-CN" altLang="en-US"/>
              <a:t>疫情防护措施很到位</a:t>
            </a:r>
            <a:r>
              <a:rPr lang="en-US" altLang="zh-CN"/>
              <a:t>"         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评分</a:t>
            </a:r>
            <a:r>
              <a:rPr lang="en-US" altLang="zh-CN"/>
              <a:t>: 7.2</a:t>
            </a:r>
            <a:r>
              <a:rPr lang="zh-CN" altLang="en-US"/>
              <a:t>分</a:t>
            </a:r>
            <a:r>
              <a:rPr lang="en-US" altLang="zh-CN"/>
              <a:t> (</a:t>
            </a:r>
            <a:r>
              <a:rPr lang="zh-CN" altLang="en-US"/>
              <a:t>正面</a:t>
            </a:r>
            <a:r>
              <a:rPr lang="en-US" altLang="zh-CN"/>
              <a:t>)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   scores = [3.2, 8.5, 5.5, 2.8, 7.2]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   avg_score = (3.2 + 8.5 + 5.5 + 2.8 + 7.2) / 5 = 5.44 ≈ 5.4</a:t>
            </a:r>
            <a:r>
              <a:rPr lang="zh-CN" altLang="en-US"/>
              <a:t>分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四，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不足：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1</a:t>
            </a:r>
            <a:r>
              <a:rPr lang="zh-CN" altLang="en-US"/>
              <a:t>，通过关键词匹配计算单条文本的情感得分，不够</a:t>
            </a:r>
            <a:r>
              <a:rPr lang="zh-CN" altLang="en-US"/>
              <a:t>准确。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改进：调用大模型，通过</a:t>
            </a:r>
            <a:r>
              <a:rPr lang="en-US" altLang="zh-CN"/>
              <a:t>AI</a:t>
            </a:r>
            <a:r>
              <a:rPr lang="zh-CN" altLang="en-US"/>
              <a:t>判断，会准确</a:t>
            </a:r>
            <a:r>
              <a:rPr lang="zh-CN" altLang="en-US"/>
              <a:t>很多。</a:t>
            </a:r>
            <a:endParaRPr lang="zh-CN" altLang="en-US"/>
          </a:p>
          <a:p>
            <a:pPr lvl="0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可以增加的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功能：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，可以增加热度变化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趋势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（热度上涨、下降，新增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热搜）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，可以增加专门的方向（社会，娱乐，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体育）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457200"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需要更多的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数据。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2853</Words>
  <Application>WPS 演示</Application>
  <PresentationFormat>宽屏</PresentationFormat>
  <Paragraphs>237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python+spark热词分析系统</vt:lpstr>
      <vt:lpstr>目录</vt:lpstr>
      <vt:lpstr>一，系统介绍</vt:lpstr>
      <vt:lpstr>PowerPoint 演示文稿</vt:lpstr>
      <vt:lpstr>PowerPoint 演示文稿</vt:lpstr>
      <vt:lpstr>一，系统介绍</vt:lpstr>
      <vt:lpstr>二，数据集</vt:lpstr>
      <vt:lpstr>二，数据集</vt:lpstr>
      <vt:lpstr>三，架构分析</vt:lpstr>
      <vt:lpstr>三，架构分析</vt:lpstr>
      <vt:lpstr>三，架构分析</vt:lpstr>
      <vt:lpstr>三，架构分析</vt:lpstr>
      <vt:lpstr>三，架构分析</vt:lpstr>
      <vt:lpstr>PowerPoint 演示文稿</vt:lpstr>
      <vt:lpstr>三，架构分析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谢宝玛</cp:lastModifiedBy>
  <cp:revision>161</cp:revision>
  <dcterms:created xsi:type="dcterms:W3CDTF">2019-06-19T02:08:00Z</dcterms:created>
  <dcterms:modified xsi:type="dcterms:W3CDTF">2026-01-02T16:12:55Z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2052-12.1.0.22215</vt:lpwstr>
  </property>
  <property fmtid="{D5CDD505-2E9C-101B-9397-08002B2CF9AE}" pid="3" name="ICV">
    <vt:lpwstr>4E43FD7E106546C89F1BCF1067F6A3EC_11</vt:lpwstr>
  </property>
</Properties>
</file>